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sentiment</c:v>
                </c:pt>
              </c:strCache>
            </c:strRef>
          </c:tx>
          <c:spPr>
            <a:ln w="38100" cap="flat">
              <a:solidFill>
                <a:srgbClr val="2BD9A6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BD9A6"/>
              </a:solidFill>
              <a:ln w="9525" cap="flat">
                <a:solidFill>
                  <a:srgbClr val="2BD9A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Open</c:v>
                </c:pt>
                <c:pt idx="1">
                  <c:v>Turn 2</c:v>
                </c:pt>
                <c:pt idx="2">
                  <c:v>Turn 3</c:v>
                </c:pt>
                <c:pt idx="3">
                  <c:v>Turn 4</c:v>
                </c:pt>
                <c:pt idx="4">
                  <c:v>Close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11</c:v>
                </c:pt>
                <c:pt idx="2">
                  <c:v>40</c:v>
                </c:pt>
                <c:pt idx="3">
                  <c:v>56</c:v>
                </c:pt>
                <c:pt idx="4">
                  <c:v>86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8C7-4D01-AE18-0ADF676A63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65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A36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65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21A2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A2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7B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9AA7B8"/>
                </a:solidFill>
                <a:latin typeface="Arial"/>
              </a:rPr>
              <a:t>Sentiment distribution (sample)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D9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CF3-4371-82EE-0102EBF83C52}"/>
              </c:ext>
            </c:extLst>
          </c:dPt>
          <c:dPt>
            <c:idx val="1"/>
            <c:bubble3D val="0"/>
            <c:spPr>
              <a:solidFill>
                <a:srgbClr val="3FA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F3-4371-82EE-0102EBF83C52}"/>
              </c:ext>
            </c:extLst>
          </c:dPt>
          <c:dPt>
            <c:idx val="2"/>
            <c:bubble3D val="0"/>
            <c:spPr>
              <a:solidFill>
                <a:srgbClr val="FF4D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F3-4371-82EE-0102EBF83C5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F3-4371-82EE-0102EBF83C5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CF3-4371-82EE-0102EBF83C5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CF3-4371-82EE-0102EBF83C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30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CF3-4371-82EE-0102EBF83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AA7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21A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6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line: SCM listens to calls live, coaches the agent in real time, and writes a full QA report automatically — and the AI runs entirely on our own machine. Replace the team/supervisor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emotionally: the call center IS the brand; one bad call loses a customer. But companies barely know what's said on their calls. Manual QA reviews ~1 in 100, is slow, subjective, and too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needs the product answers: visibility into every call, in-the-moment help for agents, and privacy. The third sets up the Local-AI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SCM does three things: live transcription, live coaching, and an automatic post-call report. Emphasize 'all calls, automatically' vs the 1% manual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the old manual loop (slow, error-prone, late) vs the SCM loop (automatic, instant, consistent). Land on 'Hours -&gt; Seconds'.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Centerpiece. Honest framing: by DEFAULT the whole pipeline runs locally; cloud providers are optional, off by default, with automatic fallback. Do not claim 'never cloud'. Mention banks/hospitals/government as the killer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audio in, speech to text locally, local LLM understands it, returns structured JSON, backend stores it, dashboards display it. The dashed box stresses STT + LLM run on-premise.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executive-level. Four pillars; the AI column (local LLM + local Whisper) is the 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request flows through security middleware, auth, then the layered route/service/repository stack. The system is modular by role and fully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calls is the hub. People (users, customers) link to calls; call data (transcripts, scores, suggestions) hangs off calls; audit_logs tracks users. Mention RLS on audit_logs and the self-referencing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token acts like a keycard: issued at login, checked on every request, and gated by role. Sensitive tables use RLS; every important action is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ideas: (1) hybrid — fast model live, accurate model for the report; (2) diarization labels Agent vs Customer. Both run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part with a small local model is reliable output. We force valid JSON via JSON-Schema mode plus a forgiving parser. Output is 18 structured fields per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coaching types. The WOW is anger detection: the system surfaces a calming suggested response the instant the customer escalates. Show the real coach-alert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agent console. Narrate the live transcript filling and the AI assistant panel. Capture from the running app per the production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writes itself in seconds: 18 fields incl. six 0-10 scores, sentiment, and recommendations. Scores shown are illustrative; capture a real report consistent with your demo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feature we built. Be precise: it is POST-CALL (not a live meter). It reconstructs the customer's arc from the transcript and anchors the endpoint to the report's customer_sentiment. The chart shows a sample arc; the real component animates inside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sees the whole operation live: KPIs, charts (call volume, sentiment, types, agent ranking, heatmap), searchable call history, drill-down detail, and PDF export. Charts here use sample data; capture real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call-heavy business benefits; regulated industries (banks, hospitals, insurance, government) are the best fit because the AI stays on-premise.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contrast concrete but mark numbers as illustrative. The headline is coverage: 1% sampled becomes 100% understood.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problems from the codebase and great Q&amp;A fodder: E2EE decryption, packet resilience, hallucination filtering, guaranteed JSON, Arabic accuracy, latency vs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ambition, not gaps. Tie back to identity: even the roadmap keeps the AI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 + local-first badge. Invite questions. (Per your preference we avoid a bare 'Thank you' card.)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0472" y="1188720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541368" y="100584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4852264" y="777240"/>
            <a:ext cx="146304" cy="128016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5163160" y="1051560"/>
            <a:ext cx="146304" cy="7315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474056" y="594360"/>
            <a:ext cx="146304" cy="164592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5784952" y="914400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6095848" y="41148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6406744" y="822960"/>
            <a:ext cx="146304" cy="11887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6717640" y="109728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7028536" y="685800"/>
            <a:ext cx="146304" cy="146304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7339432" y="96012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7650328" y="1143000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Call-Center Quality Monitoring &amp; Live Agent Coaching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conversation becomes actionable intelligence.”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15688" y="45262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4815688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100% LOCAL AI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Academy for Science, Technology &amp; Maritime Transport   ·   Graduation Project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is broken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49808" y="1975104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749808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6" dirty="0"/>
          </a:p>
        </p:txBody>
      </p:sp>
      <p:sp>
        <p:nvSpPr>
          <p:cNvPr id="7" name="Text 5"/>
          <p:cNvSpPr/>
          <p:nvPr/>
        </p:nvSpPr>
        <p:spPr>
          <a:xfrm>
            <a:off x="1417320" y="18653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listens to calls by hand, long after they 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49808" y="3035808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49808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coverage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2552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tiny random sample of calls is ever reviewed.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749808" y="4096512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749808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6" dirty="0"/>
          </a:p>
        </p:txBody>
      </p:sp>
      <p:sp>
        <p:nvSpPr>
          <p:cNvPr id="17" name="Text 15"/>
          <p:cNvSpPr/>
          <p:nvPr/>
        </p:nvSpPr>
        <p:spPr>
          <a:xfrm>
            <a:off x="1417320" y="3986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reviewers score the same call differently.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749808" y="5157216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749808" y="5157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6" dirty="0"/>
          </a:p>
        </p:txBody>
      </p:sp>
      <p:sp>
        <p:nvSpPr>
          <p:cNvPr id="22" name="Text 20"/>
          <p:cNvSpPr/>
          <p:nvPr/>
        </p:nvSpPr>
        <p:spPr>
          <a:xfrm>
            <a:off x="1417320" y="5047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too late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376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an issue is found, the customer is already gone.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4D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813816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841248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868680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896112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923544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950976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978408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1005840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1033272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786384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813816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841248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868680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896112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923544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950976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978408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Shape 40"/>
          <p:cNvSpPr/>
          <p:nvPr/>
        </p:nvSpPr>
        <p:spPr>
          <a:xfrm>
            <a:off x="1005840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Shape 41"/>
          <p:cNvSpPr/>
          <p:nvPr/>
        </p:nvSpPr>
        <p:spPr>
          <a:xfrm>
            <a:off x="1033272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Shape 42"/>
          <p:cNvSpPr/>
          <p:nvPr/>
        </p:nvSpPr>
        <p:spPr>
          <a:xfrm>
            <a:off x="786384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Shape 43"/>
          <p:cNvSpPr/>
          <p:nvPr/>
        </p:nvSpPr>
        <p:spPr>
          <a:xfrm>
            <a:off x="813816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Shape 44"/>
          <p:cNvSpPr/>
          <p:nvPr/>
        </p:nvSpPr>
        <p:spPr>
          <a:xfrm>
            <a:off x="841248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Shape 45"/>
          <p:cNvSpPr/>
          <p:nvPr/>
        </p:nvSpPr>
        <p:spPr>
          <a:xfrm>
            <a:off x="868680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Shape 46"/>
          <p:cNvSpPr/>
          <p:nvPr/>
        </p:nvSpPr>
        <p:spPr>
          <a:xfrm>
            <a:off x="896112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Shape 47"/>
          <p:cNvSpPr/>
          <p:nvPr/>
        </p:nvSpPr>
        <p:spPr>
          <a:xfrm>
            <a:off x="923544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Shape 48"/>
          <p:cNvSpPr/>
          <p:nvPr/>
        </p:nvSpPr>
        <p:spPr>
          <a:xfrm>
            <a:off x="950976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Shape 49"/>
          <p:cNvSpPr/>
          <p:nvPr/>
        </p:nvSpPr>
        <p:spPr>
          <a:xfrm>
            <a:off x="978408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Shape 50"/>
          <p:cNvSpPr/>
          <p:nvPr/>
        </p:nvSpPr>
        <p:spPr>
          <a:xfrm>
            <a:off x="1005840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Shape 51"/>
          <p:cNvSpPr/>
          <p:nvPr/>
        </p:nvSpPr>
        <p:spPr>
          <a:xfrm>
            <a:off x="1033272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Shape 52"/>
          <p:cNvSpPr/>
          <p:nvPr/>
        </p:nvSpPr>
        <p:spPr>
          <a:xfrm>
            <a:off x="786384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Shape 53"/>
          <p:cNvSpPr/>
          <p:nvPr/>
        </p:nvSpPr>
        <p:spPr>
          <a:xfrm>
            <a:off x="813816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Shape 54"/>
          <p:cNvSpPr/>
          <p:nvPr/>
        </p:nvSpPr>
        <p:spPr>
          <a:xfrm>
            <a:off x="841248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Shape 55"/>
          <p:cNvSpPr/>
          <p:nvPr/>
        </p:nvSpPr>
        <p:spPr>
          <a:xfrm>
            <a:off x="868680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Shape 56"/>
          <p:cNvSpPr/>
          <p:nvPr/>
        </p:nvSpPr>
        <p:spPr>
          <a:xfrm>
            <a:off x="896112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9" name="Shape 57"/>
          <p:cNvSpPr/>
          <p:nvPr/>
        </p:nvSpPr>
        <p:spPr>
          <a:xfrm>
            <a:off x="923544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Shape 58"/>
          <p:cNvSpPr/>
          <p:nvPr/>
        </p:nvSpPr>
        <p:spPr>
          <a:xfrm>
            <a:off x="950976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Shape 59"/>
          <p:cNvSpPr/>
          <p:nvPr/>
        </p:nvSpPr>
        <p:spPr>
          <a:xfrm>
            <a:off x="978408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2" name="Shape 60"/>
          <p:cNvSpPr/>
          <p:nvPr/>
        </p:nvSpPr>
        <p:spPr>
          <a:xfrm>
            <a:off x="1005840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3" name="Shape 61"/>
          <p:cNvSpPr/>
          <p:nvPr/>
        </p:nvSpPr>
        <p:spPr>
          <a:xfrm>
            <a:off x="1033272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Shape 62"/>
          <p:cNvSpPr/>
          <p:nvPr/>
        </p:nvSpPr>
        <p:spPr>
          <a:xfrm>
            <a:off x="786384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Shape 63"/>
          <p:cNvSpPr/>
          <p:nvPr/>
        </p:nvSpPr>
        <p:spPr>
          <a:xfrm>
            <a:off x="813816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Shape 64"/>
          <p:cNvSpPr/>
          <p:nvPr/>
        </p:nvSpPr>
        <p:spPr>
          <a:xfrm>
            <a:off x="841248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Shape 65"/>
          <p:cNvSpPr/>
          <p:nvPr/>
        </p:nvSpPr>
        <p:spPr>
          <a:xfrm>
            <a:off x="868680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Shape 66"/>
          <p:cNvSpPr/>
          <p:nvPr/>
        </p:nvSpPr>
        <p:spPr>
          <a:xfrm>
            <a:off x="896112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Shape 67"/>
          <p:cNvSpPr/>
          <p:nvPr/>
        </p:nvSpPr>
        <p:spPr>
          <a:xfrm>
            <a:off x="923544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Shape 68"/>
          <p:cNvSpPr/>
          <p:nvPr/>
        </p:nvSpPr>
        <p:spPr>
          <a:xfrm>
            <a:off x="950976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Shape 69"/>
          <p:cNvSpPr/>
          <p:nvPr/>
        </p:nvSpPr>
        <p:spPr>
          <a:xfrm>
            <a:off x="978408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Shape 70"/>
          <p:cNvSpPr/>
          <p:nvPr/>
        </p:nvSpPr>
        <p:spPr>
          <a:xfrm>
            <a:off x="1005840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Shape 71"/>
          <p:cNvSpPr/>
          <p:nvPr/>
        </p:nvSpPr>
        <p:spPr>
          <a:xfrm>
            <a:off x="1033272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Shape 72"/>
          <p:cNvSpPr/>
          <p:nvPr/>
        </p:nvSpPr>
        <p:spPr>
          <a:xfrm>
            <a:off x="786384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5" name="Shape 73"/>
          <p:cNvSpPr/>
          <p:nvPr/>
        </p:nvSpPr>
        <p:spPr>
          <a:xfrm>
            <a:off x="813816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6" name="Shape 74"/>
          <p:cNvSpPr/>
          <p:nvPr/>
        </p:nvSpPr>
        <p:spPr>
          <a:xfrm>
            <a:off x="841248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7" name="Shape 75"/>
          <p:cNvSpPr/>
          <p:nvPr/>
        </p:nvSpPr>
        <p:spPr>
          <a:xfrm>
            <a:off x="868680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8" name="Shape 76"/>
          <p:cNvSpPr/>
          <p:nvPr/>
        </p:nvSpPr>
        <p:spPr>
          <a:xfrm>
            <a:off x="896112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Shape 77"/>
          <p:cNvSpPr/>
          <p:nvPr/>
        </p:nvSpPr>
        <p:spPr>
          <a:xfrm>
            <a:off x="923544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0" name="Shape 78"/>
          <p:cNvSpPr/>
          <p:nvPr/>
        </p:nvSpPr>
        <p:spPr>
          <a:xfrm>
            <a:off x="950976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Shape 79"/>
          <p:cNvSpPr/>
          <p:nvPr/>
        </p:nvSpPr>
        <p:spPr>
          <a:xfrm>
            <a:off x="978408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2" name="Shape 80"/>
          <p:cNvSpPr/>
          <p:nvPr/>
        </p:nvSpPr>
        <p:spPr>
          <a:xfrm>
            <a:off x="1005840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3" name="Shape 81"/>
          <p:cNvSpPr/>
          <p:nvPr/>
        </p:nvSpPr>
        <p:spPr>
          <a:xfrm>
            <a:off x="1033272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4" name="Shape 82"/>
          <p:cNvSpPr/>
          <p:nvPr/>
        </p:nvSpPr>
        <p:spPr>
          <a:xfrm>
            <a:off x="786384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5" name="Shape 83"/>
          <p:cNvSpPr/>
          <p:nvPr/>
        </p:nvSpPr>
        <p:spPr>
          <a:xfrm>
            <a:off x="813816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Shape 84"/>
          <p:cNvSpPr/>
          <p:nvPr/>
        </p:nvSpPr>
        <p:spPr>
          <a:xfrm>
            <a:off x="841248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Shape 85"/>
          <p:cNvSpPr/>
          <p:nvPr/>
        </p:nvSpPr>
        <p:spPr>
          <a:xfrm>
            <a:off x="868680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Shape 86"/>
          <p:cNvSpPr/>
          <p:nvPr/>
        </p:nvSpPr>
        <p:spPr>
          <a:xfrm>
            <a:off x="896112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Shape 87"/>
          <p:cNvSpPr/>
          <p:nvPr/>
        </p:nvSpPr>
        <p:spPr>
          <a:xfrm>
            <a:off x="923544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Shape 88"/>
          <p:cNvSpPr/>
          <p:nvPr/>
        </p:nvSpPr>
        <p:spPr>
          <a:xfrm>
            <a:off x="950976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Shape 89"/>
          <p:cNvSpPr/>
          <p:nvPr/>
        </p:nvSpPr>
        <p:spPr>
          <a:xfrm>
            <a:off x="978408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Shape 90"/>
          <p:cNvSpPr/>
          <p:nvPr/>
        </p:nvSpPr>
        <p:spPr>
          <a:xfrm>
            <a:off x="1005840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Shape 91"/>
          <p:cNvSpPr/>
          <p:nvPr/>
        </p:nvSpPr>
        <p:spPr>
          <a:xfrm>
            <a:off x="1033272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Shape 92"/>
          <p:cNvSpPr/>
          <p:nvPr/>
        </p:nvSpPr>
        <p:spPr>
          <a:xfrm>
            <a:off x="786384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Shape 93"/>
          <p:cNvSpPr/>
          <p:nvPr/>
        </p:nvSpPr>
        <p:spPr>
          <a:xfrm>
            <a:off x="813816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Shape 94"/>
          <p:cNvSpPr/>
          <p:nvPr/>
        </p:nvSpPr>
        <p:spPr>
          <a:xfrm>
            <a:off x="841248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Shape 95"/>
          <p:cNvSpPr/>
          <p:nvPr/>
        </p:nvSpPr>
        <p:spPr>
          <a:xfrm>
            <a:off x="868680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Shape 96"/>
          <p:cNvSpPr/>
          <p:nvPr/>
        </p:nvSpPr>
        <p:spPr>
          <a:xfrm>
            <a:off x="896112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Shape 97"/>
          <p:cNvSpPr/>
          <p:nvPr/>
        </p:nvSpPr>
        <p:spPr>
          <a:xfrm>
            <a:off x="923544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Shape 98"/>
          <p:cNvSpPr/>
          <p:nvPr/>
        </p:nvSpPr>
        <p:spPr>
          <a:xfrm>
            <a:off x="950976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Shape 99"/>
          <p:cNvSpPr/>
          <p:nvPr/>
        </p:nvSpPr>
        <p:spPr>
          <a:xfrm>
            <a:off x="978408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Shape 100"/>
          <p:cNvSpPr/>
          <p:nvPr/>
        </p:nvSpPr>
        <p:spPr>
          <a:xfrm>
            <a:off x="1005840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Shape 101"/>
          <p:cNvSpPr/>
          <p:nvPr/>
        </p:nvSpPr>
        <p:spPr>
          <a:xfrm>
            <a:off x="1033272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Shape 102"/>
          <p:cNvSpPr/>
          <p:nvPr/>
        </p:nvSpPr>
        <p:spPr>
          <a:xfrm>
            <a:off x="786384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5" name="Shape 103"/>
          <p:cNvSpPr/>
          <p:nvPr/>
        </p:nvSpPr>
        <p:spPr>
          <a:xfrm>
            <a:off x="813816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6" name="Shape 104"/>
          <p:cNvSpPr/>
          <p:nvPr/>
        </p:nvSpPr>
        <p:spPr>
          <a:xfrm>
            <a:off x="841248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7" name="Shape 105"/>
          <p:cNvSpPr/>
          <p:nvPr/>
        </p:nvSpPr>
        <p:spPr>
          <a:xfrm>
            <a:off x="868680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8" name="Shape 106"/>
          <p:cNvSpPr/>
          <p:nvPr/>
        </p:nvSpPr>
        <p:spPr>
          <a:xfrm>
            <a:off x="896112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9" name="Shape 107"/>
          <p:cNvSpPr/>
          <p:nvPr/>
        </p:nvSpPr>
        <p:spPr>
          <a:xfrm>
            <a:off x="923544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0" name="Shape 108"/>
          <p:cNvSpPr/>
          <p:nvPr/>
        </p:nvSpPr>
        <p:spPr>
          <a:xfrm>
            <a:off x="950976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1" name="Shape 109"/>
          <p:cNvSpPr/>
          <p:nvPr/>
        </p:nvSpPr>
        <p:spPr>
          <a:xfrm>
            <a:off x="978408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2" name="Shape 110"/>
          <p:cNvSpPr/>
          <p:nvPr/>
        </p:nvSpPr>
        <p:spPr>
          <a:xfrm>
            <a:off x="1005840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3" name="Shape 111"/>
          <p:cNvSpPr/>
          <p:nvPr/>
        </p:nvSpPr>
        <p:spPr>
          <a:xfrm>
            <a:off x="1033272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4" name="Shape 112"/>
          <p:cNvSpPr/>
          <p:nvPr/>
        </p:nvSpPr>
        <p:spPr>
          <a:xfrm>
            <a:off x="786384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Shape 113"/>
          <p:cNvSpPr/>
          <p:nvPr/>
        </p:nvSpPr>
        <p:spPr>
          <a:xfrm>
            <a:off x="813816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6" name="Shape 114"/>
          <p:cNvSpPr/>
          <p:nvPr/>
        </p:nvSpPr>
        <p:spPr>
          <a:xfrm>
            <a:off x="841248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7" name="Shape 115"/>
          <p:cNvSpPr/>
          <p:nvPr/>
        </p:nvSpPr>
        <p:spPr>
          <a:xfrm>
            <a:off x="868680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8" name="Shape 116"/>
          <p:cNvSpPr/>
          <p:nvPr/>
        </p:nvSpPr>
        <p:spPr>
          <a:xfrm>
            <a:off x="896112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9" name="Shape 117"/>
          <p:cNvSpPr/>
          <p:nvPr/>
        </p:nvSpPr>
        <p:spPr>
          <a:xfrm>
            <a:off x="923544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0" name="Shape 118"/>
          <p:cNvSpPr/>
          <p:nvPr/>
        </p:nvSpPr>
        <p:spPr>
          <a:xfrm>
            <a:off x="950976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1" name="Shape 119"/>
          <p:cNvSpPr/>
          <p:nvPr/>
        </p:nvSpPr>
        <p:spPr>
          <a:xfrm>
            <a:off x="978408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2" name="Shape 120"/>
          <p:cNvSpPr/>
          <p:nvPr/>
        </p:nvSpPr>
        <p:spPr>
          <a:xfrm>
            <a:off x="1005840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3" name="Shape 121"/>
          <p:cNvSpPr/>
          <p:nvPr/>
        </p:nvSpPr>
        <p:spPr>
          <a:xfrm>
            <a:off x="1033272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4" name="Text 122"/>
          <p:cNvSpPr/>
          <p:nvPr/>
        </p:nvSpPr>
        <p:spPr>
          <a:xfrm>
            <a:off x="740664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100 calls is reviewed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matters — and no one is listening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3FA9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center is the brand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can win or lose a customer for life — quality can't be left to chance.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20116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643018" y="2331720"/>
            <a:ext cx="548640" cy="548640"/>
          </a:xfrm>
          <a:prstGeom prst="ellipse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64301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43018" y="3063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help in the moment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3018" y="379476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after the fact is too late. The right nudge must arrive during the call.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8757" y="20116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463077" y="2331720"/>
            <a:ext cx="548640" cy="548640"/>
          </a:xfrm>
          <a:prstGeom prst="ellipse">
            <a:avLst/>
          </a:prstGeom>
          <a:solidFill>
            <a:srgbClr val="2BD9A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463077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463077" y="3063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shouldn't leave the company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63077" y="379476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conversations are sensitive. Sending them to a third-party cloud is a real risk.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calls happen every day. </a:t>
            </a:r>
            <a:r>
              <a:rPr lang="en-US" sz="15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every one could be understood — instantly, privately?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Smart Call Monitor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the call live, speaker by speaker.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4643018" y="2103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live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43018" y="26974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AI suggestions while the agent is on the line.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88757" y="192024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8463077" y="2103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instantly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63077" y="26974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QA report written automatically the moment the call ends.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3522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124495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57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74126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385099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718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4730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45703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778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95334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906307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— not one in a hundred. All of them.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of manual review to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385255" y="173736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Traditional QA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85255" y="18745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Smart Call Monitor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finishes the call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798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manually listens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work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95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40233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992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51206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feedback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96735" y="23774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6695" y="2798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96735" y="29260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transcribes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6695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96735" y="347472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6695" y="3895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96735" y="40233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76695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96735" y="457200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76695" y="4992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96735" y="51206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gets insights instantly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 </a:t>
            </a:r>
            <a:r>
              <a:rPr lang="en-US" sz="1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8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Seconds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AI? Privacy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121408" y="239572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11680" y="2889504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2121408" y="29992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011680" y="3493008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2121408" y="360273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950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011680" y="4096512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2121408" y="420624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</a:t>
            </a: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 · API costs · internet dependency · latency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30975" y="169164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6430975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 🔒  inside your company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94015" y="224028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8003743" y="235000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audio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08415" y="26426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894015" y="278892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8003743" y="289864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8415" y="3191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894015" y="333756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8003743" y="3447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08415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894015" y="388620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8003743" y="399592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8415" y="4288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894015" y="443484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8003743" y="454456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59575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privacy · zero API cost · offline · enterprise security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 to the cloud — data never leaves the building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end to end — in real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78228" y="2240280"/>
            <a:ext cx="3776472" cy="1874520"/>
          </a:xfrm>
          <a:prstGeom prst="roundRect">
            <a:avLst>
              <a:gd name="adj" fmla="val 2927"/>
            </a:avLst>
          </a:prstGeom>
          <a:solidFill>
            <a:srgbClr val="10241F"/>
          </a:solidFill>
          <a:ln w="12700">
            <a:solidFill>
              <a:srgbClr val="2BD9A6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2278228" y="22677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On-premise — nothing leaves the machine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8572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568300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8300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/ live call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86204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387956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497684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97684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(local)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1558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17340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427068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27068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497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46724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6356452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6452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fields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74356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76108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8285836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85836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Supabase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037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105492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10215220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15220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 + coaching stream to the dashboard over WebSocket; the backend persists everything to Supabase and pushes realtime updates.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61208" y="5303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3334360" y="53035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on-premise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227168" y="5303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5300320" y="53035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01688" y="5303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7174840" y="53035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robust, local-first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 (RTL Arabic)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Chart.js, WebSocket, SSE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2254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FFB02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630854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30854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role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rate limiting, audit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484468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Auth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84468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JWT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09481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9338081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8081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— local LLM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(local STT)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is the differentiator — it runs on our own hardware.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production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2288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82016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618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099920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2209648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/ CORS / Rate-limit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381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727552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FFB02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837280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+ Authorize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8144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355184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5464912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09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982816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092544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671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10448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8720176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6434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238080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10347808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154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 — every call is secured, validated, and logged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77724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modules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85039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168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208483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331927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8056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455371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48006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850392" y="480060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011680" y="48006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2084832" y="480060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46120" y="48006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3319272" y="480060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3749040"/>
            <a:ext cx="5242255" cy="2011680"/>
          </a:xfrm>
          <a:prstGeom prst="roundRect">
            <a:avLst>
              <a:gd name="adj" fmla="val 4091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66294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29400" y="4297680"/>
            <a:ext cx="4693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 (ApiError)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 + audit trail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routes → services → repositories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on Supabase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0" y="2125980"/>
            <a:ext cx="1371600" cy="141732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 flipH="1">
            <a:off x="6080760" y="2125980"/>
            <a:ext cx="1371600" cy="141732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 flipH="1">
            <a:off x="2011680" y="3543300"/>
            <a:ext cx="4069080" cy="169164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 flipH="1">
            <a:off x="4800600" y="3543300"/>
            <a:ext cx="1280160" cy="169164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6080760" y="3543300"/>
            <a:ext cx="1508760" cy="169164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4709160" y="2125980"/>
            <a:ext cx="5577840" cy="137160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3657600" y="169164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767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67328" y="20756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parent_id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5105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10528" y="20756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10241F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864608" y="3154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4608" y="34472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(PK)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800600"/>
            <a:ext cx="219456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1024128" y="489204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24128" y="51846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(FK)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speaker, 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480060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675888" y="489204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performance_scores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75888" y="51846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(FK)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scores 0–100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4800600"/>
            <a:ext cx="219456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6601968" y="489204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01968" y="51846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(FK)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suggest_text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0" y="30632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FFB02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9253728" y="315468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53728" y="3447288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details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· UUID keys · foreign keys &amp; CHECK constraints · indexes · self-referencing org hierarchy (users.parent_id) · Supabase Realtime on live tables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90205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211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8688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09661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1568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8144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529117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1024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7600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748573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(role)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0480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7056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968029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1605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850392" y="416052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57400" y="41605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2130552" y="416052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41605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FA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3410712" y="416052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41605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4690872" y="416052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what it should; agents only ever touch their own calls.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566160"/>
            <a:ext cx="5242255" cy="2103120"/>
          </a:xfrm>
          <a:prstGeom prst="roundRect">
            <a:avLst>
              <a:gd name="adj" fmla="val 3913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662940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9400" y="4160520"/>
            <a:ext cx="4693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signed JWTs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audit_logs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of sensitive actions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hashing, security headers (Helmet)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 &amp; SPEECH-TO-TEXT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real-world audio → reliable Arabic 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662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101635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48kHz stereo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35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capture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1091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0410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371383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mono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1383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+ clean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0839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158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641131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turns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131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split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0587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99906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910879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0879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transcription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'small' model for the live transcript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'turbo' model re-runs the whole call for the report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filter + voice-activity / silence gating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383280"/>
            <a:ext cx="5333695" cy="2286000"/>
          </a:xfrm>
          <a:prstGeom prst="roundRect">
            <a:avLst>
              <a:gd name="adj" fmla="val 36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65379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3977640"/>
            <a:ext cx="4785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who said what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Auto-labels Agent vs Customer from domain cue-words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text → more accurate analysis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6217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· mono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774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24505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on CPU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062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42793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61081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1 → 5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638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79369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hotwords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guaranteed structured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arabic-orpo-llama-3-8b-instruct in LM Studio (local, OpenAI-compatible API)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role + few-shot examples + strict rules + JSON schema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 mode → guaranteed valid JSON every time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fallback parser (fixes Arabic commas, trailing commas)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constrained to 4 values; scores constrained 0–10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3695" cy="3840480"/>
          </a:xfrm>
          <a:prstGeom prst="roundRect">
            <a:avLst>
              <a:gd name="adj" fmla="val 2143"/>
            </a:avLst>
          </a:prstGeom>
          <a:solidFill>
            <a:srgbClr val="0D1420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— 18 fields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30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"call_summary": "...",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"customer_sentiment": "غاضب|محبط|محايد|سعيد",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"problem_solved": "نعم|لا|جزئياً",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"agent_performance_score": 0-10,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"empathy_score": 0-10,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"communication_score": 0-10,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"strengths": [ ... ],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"weaknesses": [ ... ],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"recommended_actions": [ ... ],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"critical_moments": [ ... ],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"next_steps": [ ... ]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COACHING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help, turn by 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</a:t>
            </a:r>
            <a:r>
              <a:rPr lang="en-US" sz="16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تحذير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or mistake — act now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0" y="196596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425196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 </a:t>
            </a:r>
            <a:r>
              <a:rPr lang="en-US" sz="16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نصيحة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5196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improvement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0" y="196596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72668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 </a:t>
            </a:r>
            <a:r>
              <a:rPr lang="en-US" sz="16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توجيه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668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next step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852160" cy="1965960"/>
          </a:xfrm>
          <a:prstGeom prst="roundRect">
            <a:avLst>
              <a:gd name="adj" fmla="val 2791"/>
            </a:avLst>
          </a:prstGeom>
          <a:solidFill>
            <a:srgbClr val="1A2436"/>
          </a:solidFill>
          <a:ln w="19050">
            <a:solidFill>
              <a:srgbClr val="3FA9F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548640" y="42748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6131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 — floating coach-alert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49971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#coach-alert when the customer escalates (R-LIVE / R4)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3794760"/>
            <a:ext cx="4967935" cy="1965960"/>
          </a:xfrm>
          <a:prstGeom prst="roundRect">
            <a:avLst>
              <a:gd name="adj" fmla="val 4186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90372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4389120"/>
            <a:ext cx="4419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speaker turn, the local LLM asks: does the agent need help now?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Customer-anger detection is top priority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suggested action pops on the agent's screen instantly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AGENT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+ AI coaching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040880" cy="3931920"/>
          </a:xfrm>
          <a:prstGeom prst="roundRect">
            <a:avLst>
              <a:gd name="adj" fmla="val 1395"/>
            </a:avLst>
          </a:prstGeom>
          <a:solidFill>
            <a:srgbClr val="1A2436"/>
          </a:solidFill>
          <a:ln w="19050">
            <a:solidFill>
              <a:srgbClr val="3FA9F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6758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 — live call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405993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transcript-box (Agent/Customer) + AI assistant panel + call-hero ‘مكالمة مباشرة’  (R-LIVE)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0" y="1874520"/>
            <a:ext cx="3779215" cy="3931920"/>
          </a:xfrm>
          <a:prstGeom prst="roundRect">
            <a:avLst>
              <a:gd name="adj" fmla="val 217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80924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2468880"/>
            <a:ext cx="32305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Call-hero status: offline → ready → LIVE → ended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transcript, speaker-colored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assistant: issues &amp; actions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engine badge (e.g. local model)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 (processing trace)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call + customer + PDF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AI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QA evaluation — written automatically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0" cy="3931920"/>
          </a:xfrm>
          <a:prstGeom prst="roundRect">
            <a:avLst>
              <a:gd name="adj" fmla="val 1395"/>
            </a:avLst>
          </a:prstGeom>
          <a:solidFill>
            <a:srgbClr val="1A2436"/>
          </a:solidFill>
          <a:ln w="19050">
            <a:solidFill>
              <a:srgbClr val="3FA9F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6758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report (#report-box)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40599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6 score bars, strengths/weaknesses, recommendations (R-REPORT)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23760" y="1874520"/>
            <a:ext cx="4419295" cy="3931920"/>
          </a:xfrm>
          <a:prstGeom prst="roundRect">
            <a:avLst>
              <a:gd name="adj" fmla="val 2093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74523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performance scores (0–10)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52360" y="2514600"/>
            <a:ext cx="3322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74375" y="2514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2761488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7452360" y="2761488"/>
            <a:ext cx="3565886" cy="109728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7452360" y="3044952"/>
            <a:ext cx="3322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74375" y="30449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2360" y="3291840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7452360" y="3291840"/>
            <a:ext cx="3169676" cy="109728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7452360" y="3575304"/>
            <a:ext cx="3322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74375" y="3575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52360" y="3822192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7452360" y="3822192"/>
            <a:ext cx="3169676" cy="109728"/>
          </a:xfrm>
          <a:prstGeom prst="roundRect">
            <a:avLst>
              <a:gd name="adj" fmla="val 50000"/>
            </a:avLst>
          </a:prstGeom>
          <a:solidFill>
            <a:srgbClr val="3FA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7452360" y="4105656"/>
            <a:ext cx="3322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74375" y="41056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4352544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7452360" y="4352544"/>
            <a:ext cx="2773467" cy="109728"/>
          </a:xfrm>
          <a:prstGeom prst="roundRect">
            <a:avLst>
              <a:gd name="adj" fmla="val 50000"/>
            </a:avLst>
          </a:prstGeom>
          <a:solidFill>
            <a:srgbClr val="3FA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7452360" y="4636008"/>
            <a:ext cx="3322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74375" y="46360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52360" y="4882896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7452360" y="4882896"/>
            <a:ext cx="3169676" cy="109728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7452360" y="5166360"/>
            <a:ext cx="3322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774375" y="5166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52360" y="5413248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7452360" y="5413248"/>
            <a:ext cx="2773467" cy="109728"/>
          </a:xfrm>
          <a:prstGeom prst="roundRect">
            <a:avLst>
              <a:gd name="adj" fmla="val 50000"/>
            </a:avLst>
          </a:prstGeom>
          <a:solidFill>
            <a:srgbClr val="3FA9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summary, customer issue, root cause, resolution, sentiment, and next steps — 0 manual effort.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Timeline Replay (post-call)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20240"/>
          <a:ext cx="67665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→ Angry → Neutral → Satisfied   (0–100 sentiment)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680960" y="1920240"/>
            <a:ext cx="3962095" cy="3749040"/>
          </a:xfrm>
          <a:prstGeom prst="roundRect">
            <a:avLst>
              <a:gd name="adj" fmla="val 219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790956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4134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the customer's emotional journey across the whole call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analysis — not live (badge: “تحليل بعد المكالمة”)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real report (agent.js → renderReport)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transcript; anchored to the AI's final sentiment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Auto-plays inside the report; fully guarded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cockpit &amp;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1A2436"/>
          </a:solidFill>
          <a:ln w="19050">
            <a:solidFill>
              <a:srgbClr val="3FA9F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0815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46557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AI summary + live counter (R-ADMIN)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949440" y="1783080"/>
          <a:ext cx="4693615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937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621792" y="49377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04872" y="4937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9"/>
          <p:cNvSpPr/>
          <p:nvPr/>
        </p:nvSpPr>
        <p:spPr>
          <a:xfrm>
            <a:off x="2478024" y="49377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61104" y="4937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4334256" y="49377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ranking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17336" y="4937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6190488" y="49377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heatmap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73568" y="4937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8046720" y="49377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829800" y="4937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7"/>
          <p:cNvSpPr/>
          <p:nvPr/>
        </p:nvSpPr>
        <p:spPr>
          <a:xfrm>
            <a:off x="9902952" y="49377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+ PDF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admin views: overview, live monitor, calls, customers, users, org tree, audit log.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749808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support calls; reduce churn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824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591992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91992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Compliance-sensitive; data stays in-house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434176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34176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 stays on-premise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5191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9276359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6359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disputes, auditable QA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49808" y="397764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52628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— stays in-country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90824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3591992" y="397764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BPO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91992" y="452628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training at scale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3008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6434176" y="397764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4176" y="452628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returns; peak-season volume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75191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0241F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9258071" y="3794760"/>
            <a:ext cx="2202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= privacy-regulated.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sensitive the data, the more local AI matters.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sampling quality to knowing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383280"/>
          </a:xfrm>
          <a:prstGeom prst="roundRect">
            <a:avLst>
              <a:gd name="adj" fmla="val 2432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review 1,000 calls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reviewed · delayed · inconsistent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30975" y="1920240"/>
            <a:ext cx="5212080" cy="3383280"/>
          </a:xfrm>
          <a:prstGeom prst="roundRect">
            <a:avLst>
              <a:gd name="adj" fmla="val 2432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6430975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 Call Monitor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0975" y="2606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30975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automatic report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0975" y="4206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reviewed · instant · consistent · lower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sampled  </a:t>
            </a:r>
            <a:r>
              <a:rPr lang="en-US" sz="17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7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100% understood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(assumes ~30 min per manual review).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777240" y="20208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End-to-end-encrypted live audio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each packet via the live session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8745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507328" y="20208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audio packets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7328" y="25328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 silence frame &amp; skip — keep the call alive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77240" y="33924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 on silence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9044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Voice-activity gating + phantom-phrase filter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728" y="32461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507328" y="33924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from a small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7328" y="39044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 output + resilient parser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77240" y="47640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Egyptian-Arabic accuracy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2760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hotwords + hybrid fast/accurate STT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46177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507328" y="47640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vs accuracy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52760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model live, accurate model for the 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3728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304392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304392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32" dirty="0"/>
          </a:p>
        </p:txBody>
      </p:sp>
      <p:sp>
        <p:nvSpPr>
          <p:cNvPr id="7" name="Text 5"/>
          <p:cNvSpPr/>
          <p:nvPr/>
        </p:nvSpPr>
        <p:spPr>
          <a:xfrm>
            <a:off x="673456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Egyptian-Arabic STT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571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1440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572104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32" dirty="0"/>
          </a:p>
        </p:txBody>
      </p:sp>
      <p:sp>
        <p:nvSpPr>
          <p:cNvPr id="12" name="Text 10"/>
          <p:cNvSpPr/>
          <p:nvPr/>
        </p:nvSpPr>
        <p:spPr>
          <a:xfrm>
            <a:off x="2941168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for higher 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48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99152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5839816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5839816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32" dirty="0"/>
          </a:p>
        </p:txBody>
      </p:sp>
      <p:sp>
        <p:nvSpPr>
          <p:cNvPr id="17" name="Text 15"/>
          <p:cNvSpPr/>
          <p:nvPr/>
        </p:nvSpPr>
        <p:spPr>
          <a:xfrm>
            <a:off x="5208880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live-assist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9254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66864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8107528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8107528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32" dirty="0"/>
          </a:p>
        </p:txBody>
      </p:sp>
      <p:sp>
        <p:nvSpPr>
          <p:cNvPr id="22" name="Text 20"/>
          <p:cNvSpPr/>
          <p:nvPr/>
        </p:nvSpPr>
        <p:spPr>
          <a:xfrm>
            <a:off x="7476592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/ SIP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6025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634576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blurRad="1270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10375240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1037524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32" dirty="0"/>
          </a:p>
        </p:txBody>
      </p:sp>
      <p:sp>
        <p:nvSpPr>
          <p:cNvPr id="27" name="Text 25"/>
          <p:cNvSpPr/>
          <p:nvPr/>
        </p:nvSpPr>
        <p:spPr>
          <a:xfrm>
            <a:off x="9744304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gamification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built to grow — and even our future stays local.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29718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conversation becomes actionable intelligence.”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24248" y="3703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724248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Local-first · Privacy by default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Academy for Science, Technology &amp; Maritime Transport   ·   Graduation Project   ·  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2622</Words>
  <Application>Microsoft Office PowerPoint</Application>
  <PresentationFormat>Widescreen</PresentationFormat>
  <Paragraphs>489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Call Monitor — Graduation Project</dc:title>
  <dc:subject>PptxGenJS Presentation</dc:subject>
  <dc:creator>Smart Call Monitor Team</dc:creator>
  <cp:lastModifiedBy>Ezzaldeen Ismaeil</cp:lastModifiedBy>
  <cp:revision>2</cp:revision>
  <dcterms:created xsi:type="dcterms:W3CDTF">2026-06-27T21:39:39Z</dcterms:created>
  <dcterms:modified xsi:type="dcterms:W3CDTF">2026-06-27T21:42:52Z</dcterms:modified>
</cp:coreProperties>
</file>