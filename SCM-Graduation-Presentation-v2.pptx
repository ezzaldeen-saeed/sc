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One line: SCM listens to calls live, coaches the agent in real time, and writes a full QA report automatically — and the AI runs entirely on our own machine. Replace the team/supervisor placeholders.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emotionally: the call center IS the brand; one bad call loses a customer. But companies barely know what's said on their calls. Manual QA reviews ~1 in 100, is slow, subjective, and too 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needs the product answers: visibility into every call, in-the-moment help for agents, and privacy. The third sets up the Local-AI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SCM does three things: live transcription, live coaching, and an automatic post-call report. Emphasize 'all calls, automatically' vs the 1% manual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Side-by-side: the old manual loop (slow, error-prone, late) vs the SCM loop (automatic, instant, consistent). Land on 'Hours -&gt; Seconds'.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Centerpiece. Honest framing: by DEFAULT the whole pipeline runs locally; cloud providers are optional, off by default, with automatic fallback. Do not claim 'never cloud'. Mention banks/hospitals/government as the killer use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audio in, speech to text locally, local LLM understands it, returns structured JSON, backend stores it, dashboards display it. The dashed box stresses STT + LLM run on-premise.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executive-level. Four pillars; the AI column (local LLM + local Whisper) is the 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request flows through security middleware, auth, then the layered route/service/repository stack. The system is modular by role and fully audited.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calls is the hub. People (users, customers) link to calls; call data (transcripts, scores, suggestions) hangs off calls; audit_logs tracks users. Mention RLS on audit_logs and the self-referencing hierarchy.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token acts like a keycard: issued at login, checked on every request, and gated by role. Sensitive tables use RLS; every important action is logged.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ideas: (1) hybrid — fast model live, accurate model for the report; (2) diarization labels Agent vs Customer. Both run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hardest part with a small local model is reliable output. We force valid JSON via JSON-Schema mode plus a forgiving parser. Output is 18 structured fields per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coaching types. The WOW is anger detection: the system surfaces a calming suggested response the instant the customer escalates. Show the real coach-alert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agent console. Narrate the live transcript filling and the AI assistant panel. Capture from the running app per the production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report writes itself in seconds: 18 fields incl. six 0-10 scores, sentiment, and recommendations. Scores shown are illustrative; capture a real report consistent with your demo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feature we built. Be precise: it is POST-CALL (not a live meter). It reconstructs the customer's arc from the transcript and anchors the endpoint to the report's customer_sentiment. The chart shows a sample arc; the real component animates inside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Management sees the whole operation live: KPIs, charts (call volume, sentiment, types, agent ranking, heatmap), searchable call history, drill-down detail, and PDF export. Charts here use sample data; capture real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call-heavy business benefits; regulated industries (banks, hospitals, insurance, government) are the best fit because the AI stays on-premise.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contrast concrete but mark numbers as illustrative. The headline is coverage: 1% sampled becomes 100% understood.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problems from the codebase and great Q&amp;A fodder: E2EE decryption, packet resilience, hallucination filtering, guaranteed JSON, Arabic accuracy, latency vs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as ambition, not gaps. Tie back to identity: even the roadmap keeps the AI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tagline + local-first badge. Invite questions. (Per your preference we avoid a bare 'Thank you' card.)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0472" y="1188720"/>
            <a:ext cx="146304" cy="457200"/>
          </a:xfrm>
          <a:prstGeom prst="roundRect">
            <a:avLst>
              <a:gd name="adj" fmla="val 50000"/>
            </a:avLst>
          </a:prstGeom>
          <a:solidFill>
            <a:srgbClr val="2B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41368" y="1005840"/>
            <a:ext cx="146304" cy="82296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52264" y="777240"/>
            <a:ext cx="146304" cy="1280160"/>
          </a:xfrm>
          <a:prstGeom prst="roundRect">
            <a:avLst>
              <a:gd name="adj" fmla="val 50000"/>
            </a:avLst>
          </a:prstGeom>
          <a:solidFill>
            <a:srgbClr val="2B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63160" y="1051560"/>
            <a:ext cx="146304" cy="7315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4056" y="594360"/>
            <a:ext cx="146304" cy="1645920"/>
          </a:xfrm>
          <a:prstGeom prst="roundRect">
            <a:avLst>
              <a:gd name="adj" fmla="val 50000"/>
            </a:avLst>
          </a:prstGeom>
          <a:solidFill>
            <a:srgbClr val="2B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84952" y="914400"/>
            <a:ext cx="146304" cy="100584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5848" y="41148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2B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6744" y="822960"/>
            <a:ext cx="146304" cy="11887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17640" y="1097280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2B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28536" y="685800"/>
            <a:ext cx="146304" cy="146304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39432" y="960120"/>
            <a:ext cx="146304" cy="914400"/>
          </a:xfrm>
          <a:prstGeom prst="roundRect">
            <a:avLst>
              <a:gd name="adj" fmla="val 50000"/>
            </a:avLst>
          </a:prstGeom>
          <a:solidFill>
            <a:srgbClr val="2B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50328" y="1143000"/>
            <a:ext cx="146304" cy="54864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3172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1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Call-Center Quality Monitoring &amp; Live Agent Coaching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conversation becomes actionable intelligence.”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15688" y="452628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BD9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5688" y="4526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100% LOCAL AI PIPELINE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 Academy for Science, Technology &amp; Maritime Transport   ·   Graduation Project   ·   2026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199632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______________________      Supervisor: ______________________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is broken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75104"/>
            <a:ext cx="438912" cy="43891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75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6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6" dirty="0"/>
          </a:p>
        </p:txBody>
      </p:sp>
      <p:sp>
        <p:nvSpPr>
          <p:cNvPr id="7" name="Text 5"/>
          <p:cNvSpPr/>
          <p:nvPr/>
        </p:nvSpPr>
        <p:spPr>
          <a:xfrm>
            <a:off x="1417320" y="18653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slow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supervisor listens to calls by hand, long after they end.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98064"/>
            <a:ext cx="603504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3035808"/>
            <a:ext cx="438912" cy="43891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3035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6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6" dirty="0"/>
          </a:p>
        </p:txBody>
      </p:sp>
      <p:sp>
        <p:nvSpPr>
          <p:cNvPr id="12" name="Text 10"/>
          <p:cNvSpPr/>
          <p:nvPr/>
        </p:nvSpPr>
        <p:spPr>
          <a:xfrm>
            <a:off x="1417320" y="2926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 coverage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2552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tiny random sample of calls is ever reviewed.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58768"/>
            <a:ext cx="603504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4096512"/>
            <a:ext cx="438912" cy="43891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096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6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6" dirty="0"/>
          </a:p>
        </p:txBody>
      </p:sp>
      <p:sp>
        <p:nvSpPr>
          <p:cNvPr id="17" name="Text 15"/>
          <p:cNvSpPr/>
          <p:nvPr/>
        </p:nvSpPr>
        <p:spPr>
          <a:xfrm>
            <a:off x="1417320" y="39867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315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reviewers score the same call differently.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919472"/>
            <a:ext cx="603504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5157216"/>
            <a:ext cx="438912" cy="43891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5157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6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6" dirty="0"/>
          </a:p>
        </p:txBody>
      </p:sp>
      <p:sp>
        <p:nvSpPr>
          <p:cNvPr id="22" name="Text 20"/>
          <p:cNvSpPr/>
          <p:nvPr/>
        </p:nvSpPr>
        <p:spPr>
          <a:xfrm>
            <a:off x="1417320" y="50474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too late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376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an issue is found, the customer is already gone.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63840" y="2194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FF4D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2194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2194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0" y="2194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61120" y="2194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35440" y="2194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0" y="2194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84080" y="2194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0" y="2194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32720" y="21945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0" y="24688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24688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24688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0" y="24688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61120" y="24688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35440" y="24688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09760" y="24688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4688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58400" y="24688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332720" y="24688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63840" y="27432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38160" y="27432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12480" y="27432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86800" y="27432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61120" y="27432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35440" y="27432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509760" y="27432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784080" y="27432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58400" y="27432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332720" y="27432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63840" y="3017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38160" y="3017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12480" y="3017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0" y="3017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961120" y="3017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35440" y="3017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509760" y="3017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84080" y="3017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058400" y="3017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332720" y="3017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63840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38160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412480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961120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235440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509760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784080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058400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332720" y="32918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863840" y="35661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138160" y="35661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412480" y="35661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686800" y="35661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961120" y="35661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235440" y="35661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509760" y="35661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784080" y="35661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058400" y="35661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332720" y="356616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863840" y="38404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138160" y="38404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412480" y="38404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686800" y="38404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961120" y="38404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235440" y="38404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509760" y="38404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784080" y="38404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058400" y="38404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332720" y="384048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863840" y="41148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138160" y="41148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412480" y="41148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686800" y="41148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961120" y="41148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235440" y="41148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509760" y="41148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784080" y="41148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058400" y="41148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332720" y="41148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863840" y="43891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138160" y="43891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412480" y="43891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686800" y="43891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961120" y="43891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235440" y="43891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509760" y="43891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784080" y="43891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058400" y="43891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332720" y="43891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863840" y="4663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138160" y="4663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412480" y="4663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686800" y="4663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961120" y="4663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235440" y="4663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509760" y="4663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784080" y="4663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058400" y="4663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332720" y="4663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406640" y="4983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ctr" indent="0" marL="0">
              <a:buNone/>
            </a:pPr>
            <a:r>
              <a:rPr lang="en-US" sz="14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100 calls is reviewed</a:t>
            </a:r>
            <a:endParaRPr lang="en-US" sz="1400" dirty="0"/>
          </a:p>
        </p:txBody>
      </p:sp>
      <p:sp>
        <p:nvSpPr>
          <p:cNvPr id="125" name="Text 12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126" name="Text 12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matters — and no one is listening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54298" cy="3108960"/>
          </a:xfrm>
          <a:prstGeom prst="roundRect">
            <a:avLst>
              <a:gd name="adj" fmla="val 2647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31720"/>
            <a:ext cx="548640" cy="548640"/>
          </a:xfrm>
          <a:prstGeom prst="ellipse">
            <a:avLst/>
          </a:prstGeom>
          <a:solidFill>
            <a:srgbClr val="3FA9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center is the brand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 can win or lose a customer for life — quality can't be left to chance.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8698" y="2011680"/>
            <a:ext cx="3454298" cy="3108960"/>
          </a:xfrm>
          <a:prstGeom prst="roundRect">
            <a:avLst>
              <a:gd name="adj" fmla="val 2647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3018" y="2331720"/>
            <a:ext cx="548640" cy="54864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1" name="Text 9"/>
          <p:cNvSpPr/>
          <p:nvPr/>
        </p:nvSpPr>
        <p:spPr>
          <a:xfrm>
            <a:off x="4643018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643018" y="306324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need help in the moment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43018" y="3794760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after the fact is too late. The right nudge must arrive during the call.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8757" y="2011680"/>
            <a:ext cx="3454298" cy="3108960"/>
          </a:xfrm>
          <a:prstGeom prst="roundRect">
            <a:avLst>
              <a:gd name="adj" fmla="val 2647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63077" y="2331720"/>
            <a:ext cx="548640" cy="548640"/>
          </a:xfrm>
          <a:prstGeom prst="ellipse">
            <a:avLst/>
          </a:prstGeom>
          <a:solidFill>
            <a:srgbClr val="2BD9A6"/>
          </a:solidFill>
          <a:ln/>
        </p:spPr>
      </p:sp>
      <p:sp>
        <p:nvSpPr>
          <p:cNvPr id="16" name="Text 14"/>
          <p:cNvSpPr/>
          <p:nvPr/>
        </p:nvSpPr>
        <p:spPr>
          <a:xfrm>
            <a:off x="8463077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463077" y="306324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shouldn't leave the company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63077" y="3794760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conversations are sensitive. Sending them to a third-party cloud is a real risk.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calls happen every day. </a:t>
            </a:r>
            <a:pPr algn="ctr" indent="0" marL="0">
              <a:buNone/>
            </a:pPr>
            <a:r>
              <a:rPr lang="en-US" sz="15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every one could be understood — instantly, privately?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Smart Call Monitor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54298" cy="1828800"/>
          </a:xfrm>
          <a:prstGeom prst="roundRect">
            <a:avLst>
              <a:gd name="adj" fmla="val 4500"/>
            </a:avLst>
          </a:prstGeom>
          <a:solidFill>
            <a:srgbClr val="121A26"/>
          </a:solidFill>
          <a:ln w="12700">
            <a:solidFill>
              <a:srgbClr val="3FA9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Transcribes the call live, speaker by speaker.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68698" y="1920240"/>
            <a:ext cx="3454298" cy="1828800"/>
          </a:xfrm>
          <a:prstGeom prst="roundRect">
            <a:avLst>
              <a:gd name="adj" fmla="val 4500"/>
            </a:avLst>
          </a:prstGeom>
          <a:solidFill>
            <a:srgbClr val="121A26"/>
          </a:solidFill>
          <a:ln w="12700">
            <a:solidFill>
              <a:srgbClr val="7C5C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43018" y="210312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live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43018" y="269748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Turn-by-turn AI suggestions while the agent is on the line.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88757" y="1920240"/>
            <a:ext cx="3454298" cy="1828800"/>
          </a:xfrm>
          <a:prstGeom prst="roundRect">
            <a:avLst>
              <a:gd name="adj" fmla="val 4500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63077" y="210312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instantly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63077" y="269748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QA report written automatically the moment the call ends.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35228" y="438912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44956" y="4498848"/>
            <a:ext cx="18836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657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741268" y="438912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50996" y="4498848"/>
            <a:ext cx="18836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718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347308" y="438912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57036" y="4498848"/>
            <a:ext cx="18836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7786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953348" y="438912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063076" y="4498848"/>
            <a:ext cx="18836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— not one in a hundred. All of them.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hours of manual review to seconds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4206240"/>
          </a:xfrm>
          <a:prstGeom prst="roundRect">
            <a:avLst>
              <a:gd name="adj" fmla="val 1957"/>
            </a:avLst>
          </a:prstGeom>
          <a:solidFill>
            <a:srgbClr val="121A26"/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85255" y="1737360"/>
            <a:ext cx="5257800" cy="4206240"/>
          </a:xfrm>
          <a:prstGeom prst="roundRect">
            <a:avLst>
              <a:gd name="adj" fmla="val 1957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7452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Traditional QA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85255" y="187452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Smart Call Monitor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finishes the call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7980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92608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manually listens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346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347472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work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8953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402336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4439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457200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evaluation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9926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512064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feedback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96735" y="237744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ends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76695" y="27980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96735" y="292608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transcribes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76695" y="3346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96735" y="347472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76695" y="38953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796735" y="402336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76695" y="44439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96735" y="457200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76695" y="49926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796735" y="512064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gets insights instantly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 </a:t>
            </a:r>
            <a:pPr algn="ctr" indent="0" marL="0">
              <a:buNone/>
            </a:pPr>
            <a:r>
              <a:rPr lang="en-US" sz="18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algn="ctr" indent="0" marL="0">
              <a:buNone/>
            </a:pPr>
            <a:r>
              <a:rPr lang="en-US" sz="18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Seconds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Local AI? Privacy by default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160520"/>
          </a:xfrm>
          <a:prstGeom prst="roundRect">
            <a:avLst>
              <a:gd name="adj" fmla="val 1978"/>
            </a:avLst>
          </a:prstGeom>
          <a:solidFill>
            <a:srgbClr val="121A26"/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11680" y="2286000"/>
            <a:ext cx="2286000" cy="475488"/>
          </a:xfrm>
          <a:prstGeom prst="roundRect">
            <a:avLst>
              <a:gd name="adj" fmla="val 17308"/>
            </a:avLst>
          </a:prstGeom>
          <a:solidFill>
            <a:srgbClr val="121A26"/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21408" y="2395728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audio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011680" y="2889504"/>
            <a:ext cx="2286000" cy="475488"/>
          </a:xfrm>
          <a:prstGeom prst="roundRect">
            <a:avLst>
              <a:gd name="adj" fmla="val 17308"/>
            </a:avLst>
          </a:prstGeom>
          <a:solidFill>
            <a:srgbClr val="121A26"/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21408" y="299923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3346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011680" y="3493008"/>
            <a:ext cx="2286000" cy="475488"/>
          </a:xfrm>
          <a:prstGeom prst="roundRect">
            <a:avLst>
              <a:gd name="adj" fmla="val 17308"/>
            </a:avLst>
          </a:prstGeom>
          <a:solidFill>
            <a:srgbClr val="121A26"/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21408" y="3602736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3950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011680" y="4096512"/>
            <a:ext cx="2286000" cy="475488"/>
          </a:xfrm>
          <a:prstGeom prst="roundRect">
            <a:avLst>
              <a:gd name="adj" fmla="val 17308"/>
            </a:avLst>
          </a:prstGeom>
          <a:solidFill>
            <a:srgbClr val="121A26"/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21408" y="420624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server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074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</a:t>
            </a:r>
            <a:pPr algn="ctr"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risk · API costs · internet dependency · latency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30975" y="1691640"/>
            <a:ext cx="5212080" cy="4160520"/>
          </a:xfrm>
          <a:prstGeom prst="roundRect">
            <a:avLst>
              <a:gd name="adj" fmla="val 1978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30975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 🔒  inside your company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894015" y="2240280"/>
            <a:ext cx="2286000" cy="420624"/>
          </a:xfrm>
          <a:prstGeom prst="roundRect">
            <a:avLst>
              <a:gd name="adj" fmla="val 19565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03743" y="235000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audio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08415" y="26426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894015" y="2788920"/>
            <a:ext cx="2286000" cy="420624"/>
          </a:xfrm>
          <a:prstGeom prst="roundRect">
            <a:avLst>
              <a:gd name="adj" fmla="val 19565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03743" y="289864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server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08415" y="31912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894015" y="3337560"/>
            <a:ext cx="2286000" cy="420624"/>
          </a:xfrm>
          <a:prstGeom prst="roundRect">
            <a:avLst>
              <a:gd name="adj" fmla="val 19565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03743" y="344728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08415" y="3739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894015" y="3886200"/>
            <a:ext cx="2286000" cy="420624"/>
          </a:xfrm>
          <a:prstGeom prst="roundRect">
            <a:avLst>
              <a:gd name="adj" fmla="val 19565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03743" y="399592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808415" y="42885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894015" y="4434840"/>
            <a:ext cx="2286000" cy="420624"/>
          </a:xfrm>
          <a:prstGeom prst="roundRect">
            <a:avLst>
              <a:gd name="adj" fmla="val 19565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003743" y="454456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59575" y="5074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</a:t>
            </a:r>
            <a:pPr algn="ctr"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privacy · zero API cost · offline · enterprise security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bytes to the cloud — data never leaves the building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end to end — in real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78228" y="2240280"/>
            <a:ext cx="3776472" cy="1874520"/>
          </a:xfrm>
          <a:prstGeom prst="roundRect">
            <a:avLst>
              <a:gd name="adj" fmla="val 2927"/>
            </a:avLst>
          </a:prstGeom>
          <a:solidFill>
            <a:srgbClr val="10241F"/>
          </a:solidFill>
          <a:ln w="12700">
            <a:solidFill>
              <a:srgbClr val="2BD9A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278228" y="226771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On-premise — nothing leaves the machine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8572" y="2743200"/>
            <a:ext cx="1627632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8300" y="285292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8300" y="32004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/ live call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86204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387956" y="2743200"/>
            <a:ext cx="1627632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97684" y="285292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97684" y="32004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(local)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15588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317340" y="2743200"/>
            <a:ext cx="1627632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27068" y="285292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27068" y="32004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4972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246724" y="2743200"/>
            <a:ext cx="1627632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7C5C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6452" y="285292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6452" y="32004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fields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874356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176108" y="2743200"/>
            <a:ext cx="1627632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85836" y="285292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85836" y="32004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Supabase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8037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0105492" y="2743200"/>
            <a:ext cx="1627632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215220" y="285292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15220" y="32004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572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 + coaching stream to the dashboard over WebSocket; the backend persists everything to Supabase and pushes realtime updates.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61208" y="53035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BD9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4360" y="530352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on-premise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227168" y="5303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0320" y="530352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101688" y="53035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74840" y="530352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robust, local-first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33574" cy="3383280"/>
          </a:xfrm>
          <a:prstGeom prst="roundRect">
            <a:avLst>
              <a:gd name="adj" fmla="val 3248"/>
            </a:avLst>
          </a:prstGeom>
          <a:solidFill>
            <a:srgbClr val="121A26"/>
          </a:solidFill>
          <a:ln w="12700">
            <a:solidFill>
              <a:srgbClr val="3FA9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03120"/>
            <a:ext cx="20763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07637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dashboards (RTL Arabic)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Chart.js, WebSocket, SSE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02254" y="1920240"/>
            <a:ext cx="2533574" cy="3383280"/>
          </a:xfrm>
          <a:prstGeom prst="roundRect">
            <a:avLst>
              <a:gd name="adj" fmla="val 3248"/>
            </a:avLst>
          </a:prstGeom>
          <a:solidFill>
            <a:srgbClr val="121A26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30854" y="2103120"/>
            <a:ext cx="20763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30854" y="2697480"/>
            <a:ext cx="207637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by role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rate limiting, audit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5868" y="1920240"/>
            <a:ext cx="2533574" cy="3383280"/>
          </a:xfrm>
          <a:prstGeom prst="roundRect">
            <a:avLst>
              <a:gd name="adj" fmla="val 3248"/>
            </a:avLst>
          </a:prstGeom>
          <a:solidFill>
            <a:srgbClr val="121A26"/>
          </a:solidFill>
          <a:ln w="12700">
            <a:solidFill>
              <a:srgbClr val="7C5C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84468" y="2103120"/>
            <a:ext cx="20763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Auth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84468" y="2697480"/>
            <a:ext cx="207637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+ JWT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Realtime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09481" y="1920240"/>
            <a:ext cx="2533574" cy="3383280"/>
          </a:xfrm>
          <a:prstGeom prst="roundRect">
            <a:avLst>
              <a:gd name="adj" fmla="val 3248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38081" y="2103120"/>
            <a:ext cx="20763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38081" y="2697480"/>
            <a:ext cx="207637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 — local LLM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(local STT)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 is the differentiator — it runs on our own hardware.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like production software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2288" y="210312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82016" y="2212848"/>
            <a:ext cx="1261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26184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099920" y="210312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09648" y="2212848"/>
            <a:ext cx="1261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/ CORS / Rate-limit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53816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727552" y="210312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37280" y="2212848"/>
            <a:ext cx="1261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+ Authorize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8144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355184" y="210312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64912" y="2212848"/>
            <a:ext cx="1261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09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982816" y="210312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92544" y="2212848"/>
            <a:ext cx="1261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3671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610448" y="210312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20176" y="2212848"/>
            <a:ext cx="1261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64344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238080" y="2103120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7C5C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347808" y="2212848"/>
            <a:ext cx="1261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1546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path — every call is secured, validated, and logged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74904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3886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modules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42976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429768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011680" y="42976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84832" y="429768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46120" y="42976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9272" y="429768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480560" y="42976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53712" y="429768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77240" y="48006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" y="480060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011680" y="48006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84832" y="480060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246120" y="48006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9272" y="4800600"/>
            <a:ext cx="996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0" y="3749040"/>
            <a:ext cx="5242255" cy="2011680"/>
          </a:xfrm>
          <a:prstGeom prst="roundRect">
            <a:avLst>
              <a:gd name="adj" fmla="val 4091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62940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629400" y="4297680"/>
            <a:ext cx="46936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error handling (ApiError)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logging + audit trail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Layered: routes → services → repositories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on Supabase PostgreSQL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9160" y="2125980"/>
            <a:ext cx="1371600" cy="1417320"/>
          </a:xfrm>
          <a:prstGeom prst="line">
            <a:avLst/>
          </a:prstGeom>
          <a:noFill/>
          <a:ln w="15875">
            <a:solidFill>
              <a:srgbClr val="2A365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H="1">
            <a:off x="6080760" y="2125980"/>
            <a:ext cx="1371600" cy="1417320"/>
          </a:xfrm>
          <a:prstGeom prst="line">
            <a:avLst/>
          </a:prstGeom>
          <a:noFill/>
          <a:ln w="15875">
            <a:solidFill>
              <a:srgbClr val="2A365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H="1">
            <a:off x="2011680" y="3543300"/>
            <a:ext cx="4069080" cy="1691640"/>
          </a:xfrm>
          <a:prstGeom prst="line">
            <a:avLst/>
          </a:prstGeom>
          <a:noFill/>
          <a:ln w="15875">
            <a:solidFill>
              <a:srgbClr val="2A3650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H="1">
            <a:off x="4800600" y="3543300"/>
            <a:ext cx="1280160" cy="1691640"/>
          </a:xfrm>
          <a:prstGeom prst="line">
            <a:avLst/>
          </a:prstGeom>
          <a:noFill/>
          <a:ln w="15875">
            <a:solidFill>
              <a:srgbClr val="2A3650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080760" y="3543300"/>
            <a:ext cx="1508760" cy="1691640"/>
          </a:xfrm>
          <a:prstGeom prst="line">
            <a:avLst/>
          </a:prstGeom>
          <a:noFill/>
          <a:ln w="15875">
            <a:solidFill>
              <a:srgbClr val="2A365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709160" y="2125980"/>
            <a:ext cx="5577840" cy="1371600"/>
          </a:xfrm>
          <a:prstGeom prst="line">
            <a:avLst/>
          </a:prstGeom>
          <a:noFill/>
          <a:ln w="15875">
            <a:solidFill>
              <a:srgbClr val="2A3650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657600" y="1691640"/>
            <a:ext cx="210312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3FA9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67328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67328" y="20756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(PK)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parent_id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0" y="1691640"/>
            <a:ext cx="210312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3FA9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0528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10528" y="20756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(PK)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2651760" cy="960120"/>
          </a:xfrm>
          <a:prstGeom prst="roundRect">
            <a:avLst>
              <a:gd name="adj" fmla="val 8571"/>
            </a:avLst>
          </a:prstGeom>
          <a:solidFill>
            <a:srgbClr val="10241F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64608" y="31546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D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64608" y="344728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call_id (PK)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sentiment, analysis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" y="4800600"/>
            <a:ext cx="219456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7C5C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24128" y="489204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24128" y="5184648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call_id (FK)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speaker, text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66160" y="480060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7C5C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75888" y="489204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performance_scores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675888" y="5184648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call_id (FK)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scores 0–100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92240" y="4800600"/>
            <a:ext cx="219456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7C5C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01968" y="489204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suggestions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601968" y="5184648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call_id (FK)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suggest_text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44000" y="3063240"/>
            <a:ext cx="228600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253728" y="315468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253728" y="3447288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action, details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 · UUID keys · foreign keys &amp; CHECK constraints · indexes · self-referencing org hierarchy (users.parent_id) · Supabase Realtime on live tables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access,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2328" y="210312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02056" y="2212848"/>
            <a:ext cx="16093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21128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986888" y="210312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96616" y="2212848"/>
            <a:ext cx="16093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15688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181448" y="210312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91176" y="2212848"/>
            <a:ext cx="16093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10248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76008" y="210312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85736" y="2212848"/>
            <a:ext cx="16093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(role)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04808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570568" y="210312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80296" y="2212848"/>
            <a:ext cx="16093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3749040" cy="2468880"/>
          </a:xfrm>
          <a:prstGeom prst="roundRect">
            <a:avLst>
              <a:gd name="adj" fmla="val 2222"/>
            </a:avLst>
          </a:prstGeom>
          <a:solidFill>
            <a:srgbClr val="0E1622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pic>
        <p:nvPicPr>
          <p:cNvPr id="19" name="Image 0" descr="C:/Users/LEGION~1/AppData/Local/Temp/claude/C--Users-Legion-5-R7-Desktop-SCM-smart-call-monitor-system/4a7ddcd0-a94a-42c3-a9ce-3776db747197/scratchpad/deck/shot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51" y="3520440"/>
            <a:ext cx="3344418" cy="2286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48640" y="5934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login — Supabase Auth + role-based redirect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663440" y="3429000"/>
            <a:ext cx="6979615" cy="2468880"/>
          </a:xfrm>
          <a:prstGeom prst="roundRect">
            <a:avLst>
              <a:gd name="adj" fmla="val 3333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892040" y="3566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892040" y="402336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65192" y="402336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263640" y="402336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36792" y="402336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635240" y="402336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3FA9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08392" y="402336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9006840" y="402336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BD9A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079992" y="402336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4892040" y="4617720"/>
            <a:ext cx="64309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verified on every request; authorize by role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on audit_logs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 + Helmet security headers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hashing; agents touch only their own calls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PROCESSING &amp; SPEECH-TO-TEXT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real-world audio → reliable Arabic text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06628" y="201168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16356" y="212140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48kHz stereo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356" y="24688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capture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10916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04108" y="201168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13836" y="212140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16kHz mono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13836" y="24688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+ clean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08396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1588" y="201168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11316" y="212140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turns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11316" y="24688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split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05876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999068" y="201168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08796" y="212140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08796" y="24688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transcription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39776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'small' model for the live transcript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'turbo' model re-runs the whole call for the report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filter + voice-activity / silence gating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3383280"/>
            <a:ext cx="5333695" cy="2286000"/>
          </a:xfrm>
          <a:prstGeom prst="roundRect">
            <a:avLst>
              <a:gd name="adj" fmla="val 3600"/>
            </a:avLst>
          </a:prstGeom>
          <a:solidFill>
            <a:srgbClr val="121A26"/>
          </a:solidFill>
          <a:ln w="12700">
            <a:solidFill>
              <a:srgbClr val="7C5C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3796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diarization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37960" y="3977640"/>
            <a:ext cx="4785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who said what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Auto-labels Agent vs Customer from domain cue-words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text → more accurate analysis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8978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589788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· mono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377440" y="58978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50592" y="589788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on CPU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06240" y="58978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79392" y="589788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35040" y="58978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08192" y="589788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1 → 5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863840" y="58978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36992" y="589788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hotwords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guaranteed structured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3840480"/>
          </a:xfrm>
          <a:prstGeom prst="roundRect">
            <a:avLst>
              <a:gd name="adj" fmla="val 2143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analysis works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arabic-orpo-llama-3-8b-instruct in LM Studio (local, OpenAI-compatible API)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= role + few-shot examples + strict rules + JSON schema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JSON-Schema mode → guaranteed valid JSON every time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fallback parser (fixes Arabic commas, trailing commas)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constrained to 4 values; scores constrained 0–10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333695" cy="3840480"/>
          </a:xfrm>
          <a:prstGeom prst="roundRect">
            <a:avLst>
              <a:gd name="adj" fmla="val 2143"/>
            </a:avLst>
          </a:prstGeom>
          <a:solidFill>
            <a:srgbClr val="0D1420"/>
          </a:solidFill>
          <a:ln w="12700">
            <a:solidFill>
              <a:srgbClr val="7C5C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— 18 fields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830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"call_summary": "...",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"customer_sentiment": "غاضب|محبط|محايد|سعيد",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"problem_solved": "نعم|لا|جزئياً",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"agent_performance_score": 0-10,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"empathy_score": 0-10,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"communication_score": 0-10,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"strengths": [ ... ],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"weaknesses": [ ... ],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"recommended_actions": [ ... ],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"critical_moments": [ ... ],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"next_steps": [ ... 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AGENT COACHING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help, turn by turn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040880" cy="4434840"/>
          </a:xfrm>
          <a:prstGeom prst="roundRect">
            <a:avLst>
              <a:gd name="adj" fmla="val 1237"/>
            </a:avLst>
          </a:prstGeom>
          <a:solidFill>
            <a:srgbClr val="0E1622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pic>
        <p:nvPicPr>
          <p:cNvPr id="5" name="Image 0" descr="C:/Users/LEGION~1/AppData/Local/Temp/claude/C--Users-Legion-5-R7-Desktop-SCM-smart-call-monitor-system/4a7ddcd0-a94a-42c3-a9ce-3776db747197/scratchpad/deck/shots/agent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787" y="1874520"/>
            <a:ext cx="6692585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5449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agent console — the coaching alert fires the moment the customer escalates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955280" y="1783080"/>
            <a:ext cx="3687775" cy="841248"/>
          </a:xfrm>
          <a:prstGeom prst="roundRect">
            <a:avLst>
              <a:gd name="adj" fmla="val 9783"/>
            </a:avLst>
          </a:prstGeom>
          <a:solidFill>
            <a:srgbClr val="121A26"/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138160" y="1901952"/>
            <a:ext cx="3322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· تحذير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38160" y="2240280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mistake — act now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955280" y="2734056"/>
            <a:ext cx="3687775" cy="841248"/>
          </a:xfrm>
          <a:prstGeom prst="roundRect">
            <a:avLst>
              <a:gd name="adj" fmla="val 9783"/>
            </a:avLst>
          </a:prstGeom>
          <a:solidFill>
            <a:srgbClr val="121A26"/>
          </a:solidFill>
          <a:ln w="12700">
            <a:solidFill>
              <a:srgbClr val="3FA9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138160" y="2852928"/>
            <a:ext cx="3322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· نصيحة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38160" y="3191256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possible improvement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955280" y="3685032"/>
            <a:ext cx="3687775" cy="841248"/>
          </a:xfrm>
          <a:prstGeom prst="roundRect">
            <a:avLst>
              <a:gd name="adj" fmla="val 9783"/>
            </a:avLst>
          </a:prstGeom>
          <a:solidFill>
            <a:srgbClr val="121A26"/>
          </a:solidFill>
          <a:ln w="12700">
            <a:solidFill>
              <a:srgbClr val="7C5C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138160" y="3803904"/>
            <a:ext cx="3322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· توجيه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38160" y="4142232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next step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955280" y="4636008"/>
            <a:ext cx="3687775" cy="1371600"/>
          </a:xfrm>
          <a:prstGeom prst="roundRect">
            <a:avLst>
              <a:gd name="adj" fmla="val 6000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138160" y="4754880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38160" y="5093208"/>
            <a:ext cx="3322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turn: does the agent need help now?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 detection is top priority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AGENT CONSOLE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transcription + AI coaching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406640" cy="4434840"/>
          </a:xfrm>
          <a:prstGeom prst="roundRect">
            <a:avLst>
              <a:gd name="adj" fmla="val 1237"/>
            </a:avLst>
          </a:prstGeom>
          <a:solidFill>
            <a:srgbClr val="0E1622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pic>
        <p:nvPicPr>
          <p:cNvPr id="5" name="Image 0" descr="C:/Users/LEGION~1/AppData/Local/Temp/claude/C--Users-Legion-5-R7-Desktop-SCM-smart-call-monitor-system/4a7ddcd0-a94a-42c3-a9ce-3776db747197/scratchpad/deck/shots/agent-cons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667" y="1874520"/>
            <a:ext cx="6692585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5449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speaker-separated transcript + AI assistant (issues &amp; actions) + on-premise engine badge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322015" cy="4434840"/>
          </a:xfrm>
          <a:prstGeom prst="roundRect">
            <a:avLst>
              <a:gd name="adj" fmla="val 2477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503920" y="1920240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screen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03920" y="2377440"/>
            <a:ext cx="29562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Call-hero: offline → ready → LIVE → ended</a:t>
            </a:r>
            <a:endParaRPr lang="en-US" sz="11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 (Agent/Customer)</a:t>
            </a:r>
            <a:endParaRPr lang="en-US" sz="11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assistant: issues &amp; actions</a:t>
            </a:r>
            <a:endParaRPr lang="en-US" sz="11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engine badge</a:t>
            </a:r>
            <a:endParaRPr lang="en-US" sz="11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logs</a:t>
            </a:r>
            <a:endParaRPr lang="en-US" sz="11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call + customer + PDF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AI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QA evaluation — written automatically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4526280"/>
          </a:xfrm>
          <a:prstGeom prst="roundRect">
            <a:avLst>
              <a:gd name="adj" fmla="val 1667"/>
            </a:avLst>
          </a:prstGeom>
          <a:solidFill>
            <a:srgbClr val="0E1622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pic>
        <p:nvPicPr>
          <p:cNvPr id="5" name="Image 0" descr="C:/Users/LEGION~1/AppData/Local/Temp/claude/C--Users-Legion-5-R7-Desktop-SCM-smart-call-monitor-system/4a7ddcd0-a94a-42c3-a9ce-3776db747197/scratchpad/deck/shots/agent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723" y="1783080"/>
            <a:ext cx="2879674" cy="434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54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report (Sentiment Replay on top)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160520" y="1691640"/>
            <a:ext cx="7482535" cy="4526280"/>
          </a:xfrm>
          <a:prstGeom prst="roundRect">
            <a:avLst>
              <a:gd name="adj" fmla="val 1818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389120" y="1828800"/>
            <a:ext cx="7025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report contains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389120" y="2212848"/>
            <a:ext cx="7025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· customer issue · root cause · resolution · sentiment · problem-solved — plus six performance scores and action lists (strengths, weaknesses, recommendations, next steps).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0" y="3108960"/>
            <a:ext cx="62938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682935" y="3108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89120" y="3355848"/>
            <a:ext cx="7025335" cy="10972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3355848"/>
            <a:ext cx="5620268" cy="109728"/>
          </a:xfrm>
          <a:prstGeom prst="roundRect">
            <a:avLst>
              <a:gd name="adj" fmla="val 50000"/>
            </a:avLst>
          </a:prstGeom>
          <a:solidFill>
            <a:srgbClr val="2B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9120" y="3566160"/>
            <a:ext cx="62938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682935" y="3566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89120" y="3813048"/>
            <a:ext cx="7025335" cy="10972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89120" y="3813048"/>
            <a:ext cx="5620268" cy="109728"/>
          </a:xfrm>
          <a:prstGeom prst="roundRect">
            <a:avLst>
              <a:gd name="adj" fmla="val 50000"/>
            </a:avLst>
          </a:prstGeom>
          <a:solidFill>
            <a:srgbClr val="2B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89120" y="4023360"/>
            <a:ext cx="62938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Professionalism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682935" y="4023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89120" y="4270248"/>
            <a:ext cx="7025335" cy="10972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89120" y="4270248"/>
            <a:ext cx="6322802" cy="109728"/>
          </a:xfrm>
          <a:prstGeom prst="roundRect">
            <a:avLst>
              <a:gd name="adj" fmla="val 50000"/>
            </a:avLst>
          </a:prstGeom>
          <a:solidFill>
            <a:srgbClr val="2B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89120" y="4480560"/>
            <a:ext cx="62938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682935" y="44805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389120" y="4727448"/>
            <a:ext cx="7025335" cy="10972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389120" y="4727448"/>
            <a:ext cx="5620268" cy="109728"/>
          </a:xfrm>
          <a:prstGeom prst="roundRect">
            <a:avLst>
              <a:gd name="adj" fmla="val 50000"/>
            </a:avLst>
          </a:prstGeom>
          <a:solidFill>
            <a:srgbClr val="3FA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89120" y="4937760"/>
            <a:ext cx="62938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682935" y="4937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389120" y="5184648"/>
            <a:ext cx="7025335" cy="10972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89120" y="5184648"/>
            <a:ext cx="5620268" cy="109728"/>
          </a:xfrm>
          <a:prstGeom prst="roundRect">
            <a:avLst>
              <a:gd name="adj" fmla="val 50000"/>
            </a:avLst>
          </a:prstGeom>
          <a:solidFill>
            <a:srgbClr val="2B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389120" y="5394960"/>
            <a:ext cx="62938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0682935" y="5394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389120" y="5641848"/>
            <a:ext cx="7025335" cy="10972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89120" y="5641848"/>
            <a:ext cx="4917735" cy="109728"/>
          </a:xfrm>
          <a:prstGeom prst="roundRect">
            <a:avLst>
              <a:gd name="adj" fmla="val 50000"/>
            </a:avLst>
          </a:prstGeom>
          <a:solidFill>
            <a:srgbClr val="3FA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Timeline Replay (post-call)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3200400"/>
          </a:xfrm>
          <a:prstGeom prst="roundRect">
            <a:avLst>
              <a:gd name="adj" fmla="val 1714"/>
            </a:avLst>
          </a:prstGeom>
          <a:solidFill>
            <a:srgbClr val="0E1622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pic>
        <p:nvPicPr>
          <p:cNvPr id="5" name="Image 0" descr="C:/Users/LEGION~1/AppData/Local/Temp/claude/C--Users-Legion-5-R7-Desktop-SCM-smart-call-monitor-system/4a7ddcd0-a94a-42c3-a9ce-3776db747197/scratchpad/deck/shots/sentiment-re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958" y="1828800"/>
            <a:ext cx="1012378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9743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component inside the report — auto-plays the customer's emotional arc, anchored to the AI's final sentiment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7826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5376672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analysis — not live.  </a:t>
            </a:r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agent.js → renderReport: reconstructs the customer's arc from the transcript (Egyptian-Arabic emotion markers) and anchors the endpoint to the report's customer_sentiment. Fully guarded; uses a model-provided timeline if present.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ADMIN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cockpit &amp; analytics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114800"/>
          </a:xfrm>
          <a:prstGeom prst="roundRect">
            <a:avLst>
              <a:gd name="adj" fmla="val 1333"/>
            </a:avLst>
          </a:prstGeom>
          <a:solidFill>
            <a:srgbClr val="0E1622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pic>
        <p:nvPicPr>
          <p:cNvPr id="5" name="Image 0" descr="C:/Users/LEGION~1/AppData/Local/Temp/claude/C--Users-Legion-5-R7-Desktop-SCM-smart-call-monitor-system/4a7ddcd0-a94a-42c3-a9ce-3776db747197/scratchpad/deck/shots/admin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094" y="1874520"/>
            <a:ext cx="6456213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783080"/>
            <a:ext cx="4144975" cy="4114800"/>
          </a:xfrm>
          <a:prstGeom prst="roundRect">
            <a:avLst>
              <a:gd name="adj" fmla="val 1333"/>
            </a:avLst>
          </a:prstGeom>
          <a:solidFill>
            <a:srgbClr val="0E1622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pic>
        <p:nvPicPr>
          <p:cNvPr id="7" name="Image 1" descr="C:/Users/LEGION~1/AppData/Local/Temp/claude/C--Users-Legion-5-R7-Desktop-SCM-smart-call-monitor-system/4a7ddcd0-a94a-42c3-a9ce-3776db747197/scratchpad/deck/shots/admin-char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744" y="1874520"/>
            <a:ext cx="3947648" cy="39319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03504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21792" y="60350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121408" y="603504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194560" y="60350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694176" y="603504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767328" y="60350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ranking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266944" y="603504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40096" y="60350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839712" y="603504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912864" y="60350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412480" y="603504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485632" y="60350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9985248" y="603504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0058400" y="60350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admin views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67864" cy="1691640"/>
          </a:xfrm>
          <a:prstGeom prst="roundRect">
            <a:avLst>
              <a:gd name="adj" fmla="val 4865"/>
            </a:avLst>
          </a:prstGeom>
          <a:solidFill>
            <a:srgbClr val="121A26"/>
          </a:solidFill>
          <a:ln w="12700">
            <a:solidFill>
              <a:srgbClr val="3FA9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10312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216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support calls; reduce churn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0824" y="1920240"/>
            <a:ext cx="2567864" cy="1691640"/>
          </a:xfrm>
          <a:prstGeom prst="roundRect">
            <a:avLst>
              <a:gd name="adj" fmla="val 4865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91992" y="210312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</a:t>
            </a:r>
            <a:pPr indent="0" marL="0">
              <a:buNone/>
            </a:pPr>
            <a:r>
              <a:rPr lang="en-US" sz="16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91992" y="2651760"/>
            <a:ext cx="216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Compliance-sensitive; data stays in-house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920240"/>
            <a:ext cx="2567864" cy="1691640"/>
          </a:xfrm>
          <a:prstGeom prst="roundRect">
            <a:avLst>
              <a:gd name="adj" fmla="val 4865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34176" y="210312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pPr indent="0" marL="0">
              <a:buNone/>
            </a:pPr>
            <a:r>
              <a:rPr lang="en-US" sz="16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34176" y="2651760"/>
            <a:ext cx="216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privacy stays on-premise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5191" y="1920240"/>
            <a:ext cx="2567864" cy="1691640"/>
          </a:xfrm>
          <a:prstGeom prst="roundRect">
            <a:avLst>
              <a:gd name="adj" fmla="val 4865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76359" y="210312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pPr indent="0" marL="0">
              <a:buNone/>
            </a:pPr>
            <a:r>
              <a:rPr lang="en-US" sz="16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76359" y="2651760"/>
            <a:ext cx="216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&amp; disputes, auditable QA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2567864" cy="1691640"/>
          </a:xfrm>
          <a:prstGeom prst="roundRect">
            <a:avLst>
              <a:gd name="adj" fmla="val 4865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397764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pPr indent="0" marL="0">
              <a:buNone/>
            </a:pPr>
            <a:r>
              <a:rPr lang="en-US" sz="160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4526280"/>
            <a:ext cx="216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— stays in-country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90824" y="3794760"/>
            <a:ext cx="2567864" cy="1691640"/>
          </a:xfrm>
          <a:prstGeom prst="roundRect">
            <a:avLst>
              <a:gd name="adj" fmla="val 4865"/>
            </a:avLst>
          </a:prstGeom>
          <a:solidFill>
            <a:srgbClr val="121A26"/>
          </a:solidFill>
          <a:ln w="12700">
            <a:solidFill>
              <a:srgbClr val="3FA9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91992" y="397764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/ BPO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91992" y="4526280"/>
            <a:ext cx="216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&amp; training at scale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33008" y="3794760"/>
            <a:ext cx="2567864" cy="1691640"/>
          </a:xfrm>
          <a:prstGeom prst="roundRect">
            <a:avLst>
              <a:gd name="adj" fmla="val 4865"/>
            </a:avLst>
          </a:prstGeom>
          <a:solidFill>
            <a:srgbClr val="121A26"/>
          </a:solidFill>
          <a:ln w="12700">
            <a:solidFill>
              <a:srgbClr val="3FA9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34176" y="3977640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34176" y="4526280"/>
            <a:ext cx="2165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returns; peak-season volume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75191" y="3794760"/>
            <a:ext cx="2567864" cy="1691640"/>
          </a:xfrm>
          <a:prstGeom prst="roundRect">
            <a:avLst>
              <a:gd name="adj" fmla="val 4865"/>
            </a:avLst>
          </a:prstGeom>
          <a:solidFill>
            <a:srgbClr val="10241F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258071" y="3794760"/>
            <a:ext cx="22021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= privacy-regulated.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sensitive the data, the more local AI matters.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sampling quality to knowing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3383280"/>
          </a:xfrm>
          <a:prstGeom prst="roundRect">
            <a:avLst>
              <a:gd name="adj" fmla="val 2432"/>
            </a:avLst>
          </a:prstGeom>
          <a:solidFill>
            <a:srgbClr val="121A26"/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03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to review 1,000 calls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reviewed · delayed · inconsistent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30975" y="1920240"/>
            <a:ext cx="5212080" cy="3383280"/>
          </a:xfrm>
          <a:prstGeom prst="roundRect">
            <a:avLst>
              <a:gd name="adj" fmla="val 2432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30975" y="2103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Smart Call Monitor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30975" y="26060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430975" y="3611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automatic report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30975" y="4206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reviewed · instant · consistent · lower cost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sampled  </a:t>
            </a:r>
            <a:pPr algn="ctr" indent="0" marL="0">
              <a:buNone/>
            </a:pPr>
            <a:r>
              <a:rPr lang="en-US" sz="17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algn="ctr" indent="0" marL="0">
              <a:buNone/>
            </a:pPr>
            <a:r>
              <a:rPr lang="en-US" sz="17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100% understood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illustrative (assumes ~30 min per manual review).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→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64328" cy="1207008"/>
          </a:xfrm>
          <a:prstGeom prst="roundRect">
            <a:avLst>
              <a:gd name="adj" fmla="val 6818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20824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End-to-end-encrypted live audio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532888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each packet via the live session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78728" y="1874520"/>
            <a:ext cx="5364328" cy="1207008"/>
          </a:xfrm>
          <a:prstGeom prst="roundRect">
            <a:avLst>
              <a:gd name="adj" fmla="val 6818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07328" y="2020824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audio packets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07328" y="2532888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a silence frame &amp; skip — keep the call alive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5364328" cy="1207008"/>
          </a:xfrm>
          <a:prstGeom prst="roundRect">
            <a:avLst>
              <a:gd name="adj" fmla="val 6818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392424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hallucinations on silence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904488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Voice-activity gating + phantom-phrase filter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8728" y="3246120"/>
            <a:ext cx="5364328" cy="1207008"/>
          </a:xfrm>
          <a:prstGeom prst="roundRect">
            <a:avLst>
              <a:gd name="adj" fmla="val 6818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07328" y="3392424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JSON from a small model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07328" y="3904488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JSON-Schema output + resilient parser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364328" cy="1207008"/>
          </a:xfrm>
          <a:prstGeom prst="roundRect">
            <a:avLst>
              <a:gd name="adj" fmla="val 6818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764024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Egyptian-Arabic accuracy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5276088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hotwords + hybrid fast/accurate STT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8728" y="4617720"/>
            <a:ext cx="5364328" cy="1207008"/>
          </a:xfrm>
          <a:prstGeom prst="roundRect">
            <a:avLst>
              <a:gd name="adj" fmla="val 6818"/>
            </a:avLst>
          </a:prstGeom>
          <a:solidFill>
            <a:srgbClr val="121A26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07328" y="4764024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vs accuracy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07328" y="5276088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model live, accurate model for the report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3728" y="27432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4392" y="2971800"/>
            <a:ext cx="512064" cy="512064"/>
          </a:xfrm>
          <a:prstGeom prst="ellipse">
            <a:avLst/>
          </a:prstGeom>
          <a:solidFill>
            <a:srgbClr val="2BD9A6"/>
          </a:solidFill>
          <a:ln/>
        </p:spPr>
      </p:sp>
      <p:sp>
        <p:nvSpPr>
          <p:cNvPr id="6" name="Text 4"/>
          <p:cNvSpPr/>
          <p:nvPr/>
        </p:nvSpPr>
        <p:spPr>
          <a:xfrm>
            <a:off x="1304392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32" dirty="0"/>
          </a:p>
        </p:txBody>
      </p:sp>
      <p:sp>
        <p:nvSpPr>
          <p:cNvPr id="7" name="Text 5"/>
          <p:cNvSpPr/>
          <p:nvPr/>
        </p:nvSpPr>
        <p:spPr>
          <a:xfrm>
            <a:off x="673456" y="36118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Egyptian-Arabic STT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571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831440" y="27432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72104" y="2971800"/>
            <a:ext cx="512064" cy="512064"/>
          </a:xfrm>
          <a:prstGeom prst="ellipse">
            <a:avLst/>
          </a:prstGeom>
          <a:solidFill>
            <a:srgbClr val="2BD9A6"/>
          </a:solidFill>
          <a:ln/>
        </p:spPr>
      </p:sp>
      <p:sp>
        <p:nvSpPr>
          <p:cNvPr id="11" name="Text 9"/>
          <p:cNvSpPr/>
          <p:nvPr/>
        </p:nvSpPr>
        <p:spPr>
          <a:xfrm>
            <a:off x="3572104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32" dirty="0"/>
          </a:p>
        </p:txBody>
      </p:sp>
      <p:sp>
        <p:nvSpPr>
          <p:cNvPr id="12" name="Text 10"/>
          <p:cNvSpPr/>
          <p:nvPr/>
        </p:nvSpPr>
        <p:spPr>
          <a:xfrm>
            <a:off x="2941168" y="36118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for higher accuracy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483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099152" y="27432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39816" y="2971800"/>
            <a:ext cx="512064" cy="512064"/>
          </a:xfrm>
          <a:prstGeom prst="ellipse">
            <a:avLst/>
          </a:prstGeom>
          <a:solidFill>
            <a:srgbClr val="2BD9A6"/>
          </a:solidFill>
          <a:ln/>
        </p:spPr>
      </p:sp>
      <p:sp>
        <p:nvSpPr>
          <p:cNvPr id="16" name="Text 14"/>
          <p:cNvSpPr/>
          <p:nvPr/>
        </p:nvSpPr>
        <p:spPr>
          <a:xfrm>
            <a:off x="5839816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32" dirty="0"/>
          </a:p>
        </p:txBody>
      </p:sp>
      <p:sp>
        <p:nvSpPr>
          <p:cNvPr id="17" name="Text 15"/>
          <p:cNvSpPr/>
          <p:nvPr/>
        </p:nvSpPr>
        <p:spPr>
          <a:xfrm>
            <a:off x="5208880" y="36118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live-assist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92544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366864" y="27432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07528" y="2971800"/>
            <a:ext cx="512064" cy="512064"/>
          </a:xfrm>
          <a:prstGeom prst="ellipse">
            <a:avLst/>
          </a:prstGeom>
          <a:solidFill>
            <a:srgbClr val="2BD9A6"/>
          </a:solidFill>
          <a:ln/>
        </p:spPr>
      </p:sp>
      <p:sp>
        <p:nvSpPr>
          <p:cNvPr id="21" name="Text 19"/>
          <p:cNvSpPr/>
          <p:nvPr/>
        </p:nvSpPr>
        <p:spPr>
          <a:xfrm>
            <a:off x="8107528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32" dirty="0"/>
          </a:p>
        </p:txBody>
      </p:sp>
      <p:sp>
        <p:nvSpPr>
          <p:cNvPr id="22" name="Text 20"/>
          <p:cNvSpPr/>
          <p:nvPr/>
        </p:nvSpPr>
        <p:spPr>
          <a:xfrm>
            <a:off x="7476592" y="36118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Telephony / SIP integration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60256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634576" y="2743200"/>
            <a:ext cx="1993392" cy="1371600"/>
          </a:xfrm>
          <a:prstGeom prst="roundRect">
            <a:avLst>
              <a:gd name="adj" fmla="val 6000"/>
            </a:avLst>
          </a:prstGeom>
          <a:solidFill>
            <a:srgbClr val="121A26"/>
          </a:solidFill>
          <a:ln w="12700">
            <a:solidFill>
              <a:srgbClr val="2BD9A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75240" y="2971800"/>
            <a:ext cx="512064" cy="512064"/>
          </a:xfrm>
          <a:prstGeom prst="ellipse">
            <a:avLst/>
          </a:prstGeom>
          <a:solidFill>
            <a:srgbClr val="2BD9A6"/>
          </a:solidFill>
          <a:ln/>
        </p:spPr>
      </p:sp>
      <p:sp>
        <p:nvSpPr>
          <p:cNvPr id="26" name="Text 24"/>
          <p:cNvSpPr/>
          <p:nvPr/>
        </p:nvSpPr>
        <p:spPr>
          <a:xfrm>
            <a:off x="10375240" y="2971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0A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32" dirty="0"/>
          </a:p>
        </p:txBody>
      </p:sp>
      <p:sp>
        <p:nvSpPr>
          <p:cNvPr id="27" name="Text 25"/>
          <p:cNvSpPr/>
          <p:nvPr/>
        </p:nvSpPr>
        <p:spPr>
          <a:xfrm>
            <a:off x="9744304" y="36118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&amp; gamification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663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is built to grow — and even our future stays local.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 MONITOR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457200" y="29718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conversation becomes actionable intelligence.”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24248" y="37033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A2436"/>
          </a:solidFill>
          <a:ln w="12700">
            <a:solidFill>
              <a:srgbClr val="2BD9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24248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Local-first · Privacy by default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58521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 Academy for Science, Technology &amp; Maritime Transport   ·   Graduation Project   ·  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Call Monitor — Graduation Project</dc:title>
  <dc:subject>PptxGenJS Presentation</dc:subject>
  <dc:creator>Smart Call Monitor Team</dc:creator>
  <cp:lastModifiedBy>Smart Call Monitor Team</cp:lastModifiedBy>
  <cp:revision>1</cp:revision>
  <dcterms:created xsi:type="dcterms:W3CDTF">2026-06-27T22:05:15Z</dcterms:created>
  <dcterms:modified xsi:type="dcterms:W3CDTF">2026-06-27T22:05:15Z</dcterms:modified>
</cp:coreProperties>
</file>